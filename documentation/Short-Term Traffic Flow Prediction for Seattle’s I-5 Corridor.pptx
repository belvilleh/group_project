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392C85-4170-4FF2-9D85-E52799F35AC2}">
  <a:tblStyle styleId="{C2392C85-4170-4FF2-9D85-E52799F35A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0f7b81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90f7b81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0f7b814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0f7b814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0f7b814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90f7b814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0f7b814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0f7b81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0f7b814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0f7b814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0f7b814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0f7b814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0f7b814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0f7b814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0f7b814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0f7b814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90f7b814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90f7b814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1ea76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21ea76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7059a8c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7059a8c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7059a8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7059a8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7059a8c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7059a8c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7059a8c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7059a8c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hyperlink" Target="https://github.com/belvilleh/group_projec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325"/>
            <a:ext cx="8520600" cy="86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/>
              <a:t>Short-Term Traffic Flow Prediction for Seattle’s I-5 Corridor</a:t>
            </a:r>
            <a:endParaRPr sz="23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626" y="1152750"/>
            <a:ext cx="4964425" cy="35578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873000" y="4710600"/>
            <a:ext cx="5271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50">
                <a:solidFill>
                  <a:srgbClr val="0E0E0E"/>
                </a:solidFill>
              </a:rPr>
              <a:t>Image source: “Seattle’s I-5 bottleneck is 17th worst in nation, study says”, The Seattle Times, 11/</a:t>
            </a:r>
            <a:r>
              <a:rPr i="1" lang="en" sz="750">
                <a:solidFill>
                  <a:srgbClr val="0E0E0E"/>
                </a:solidFill>
              </a:rPr>
              <a:t>24/2015</a:t>
            </a:r>
            <a:r>
              <a:rPr i="1" lang="en" sz="750">
                <a:solidFill>
                  <a:srgbClr val="0E0E0E"/>
                </a:solidFill>
              </a:rPr>
              <a:t>, URL: https://www.seattletimes.com/seattle-news/transportation/seattles-i-5-bottleneck-is-17th-worst-in-nation-study-says/</a:t>
            </a:r>
            <a:endParaRPr i="1" sz="750">
              <a:solidFill>
                <a:srgbClr val="0E0E0E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30325" y="1182500"/>
            <a:ext cx="35427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E0E0E"/>
                </a:solidFill>
              </a:rPr>
              <a:t>DATA 5100 – Foundations of Data Science</a:t>
            </a:r>
            <a:endParaRPr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E0E0E"/>
                </a:solidFill>
              </a:rPr>
              <a:t>Team: </a:t>
            </a:r>
            <a:endParaRPr>
              <a:solidFill>
                <a:srgbClr val="0E0E0E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E0E0E"/>
              </a:buClr>
              <a:buSzPts val="1400"/>
              <a:buChar char="★"/>
            </a:pPr>
            <a:r>
              <a:rPr lang="en">
                <a:solidFill>
                  <a:srgbClr val="0E0E0E"/>
                </a:solidFill>
              </a:rPr>
              <a:t>Hannah Belville </a:t>
            </a:r>
            <a:endParaRPr>
              <a:solidFill>
                <a:srgbClr val="0E0E0E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400"/>
              <a:buChar char="★"/>
            </a:pPr>
            <a:r>
              <a:rPr lang="en">
                <a:solidFill>
                  <a:srgbClr val="0E0E0E"/>
                </a:solidFill>
              </a:rPr>
              <a:t>Cong Ho</a:t>
            </a:r>
            <a:endParaRPr>
              <a:solidFill>
                <a:srgbClr val="0E0E0E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400"/>
              <a:buChar char="★"/>
            </a:pPr>
            <a:r>
              <a:rPr lang="en">
                <a:solidFill>
                  <a:srgbClr val="0E0E0E"/>
                </a:solidFill>
              </a:rPr>
              <a:t>Paul Skentzos</a:t>
            </a:r>
            <a:endParaRPr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E0E0E"/>
                </a:solidFill>
              </a:rPr>
              <a:t>GitHub Repository: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https://github.com/belvilleh/group_project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/>
              <a:t>Introduction: Project Context</a:t>
            </a:r>
            <a:endParaRPr b="1"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0E0E"/>
                </a:solidFill>
              </a:rPr>
              <a:t>The Problem:</a:t>
            </a:r>
            <a:endParaRPr b="1" sz="14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E0E0E"/>
                </a:solidFill>
              </a:rPr>
              <a:t>Seattle’s I-5 corridor experiences heavy congestion, creating delays and uncertainty for commuters and freight.</a:t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E0E0E"/>
                </a:solidFill>
              </a:rPr>
              <a:t>Goal of Project:</a:t>
            </a:r>
            <a:endParaRPr b="1" sz="14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E0E0E"/>
                </a:solidFill>
              </a:rPr>
              <a:t>Forecast hourly traffic volume (flow) one hour ahead to support proactive traffic management.</a:t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E0E0E"/>
                </a:solidFill>
              </a:rPr>
              <a:t>Key Question:</a:t>
            </a:r>
            <a:endParaRPr b="1" sz="14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E0E0E"/>
                </a:solidFill>
              </a:rPr>
              <a:t>Can we accurately predict next-hour traffic volume using historical sensor data, weather, and collision information?</a:t>
            </a:r>
            <a:endParaRPr sz="1200">
              <a:solidFill>
                <a:srgbClr val="0E0E0E"/>
              </a:solidFill>
            </a:endParaRPr>
          </a:p>
        </p:txBody>
      </p:sp>
      <p:pic>
        <p:nvPicPr>
          <p:cNvPr descr="Evening traffic jam with brake lights (Do Getty Images cung cấp)"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050" y="1230625"/>
            <a:ext cx="4267197" cy="2846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Types of Data Used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 Modalities</a:t>
            </a:r>
            <a:endParaRPr b="1"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Traffic Volume Data:</a:t>
            </a:r>
            <a:r>
              <a:rPr lang="en" sz="1100">
                <a:solidFill>
                  <a:schemeClr val="dk1"/>
                </a:solidFill>
              </a:rPr>
              <a:t> Numeric time-series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Weather Data:</a:t>
            </a:r>
            <a:r>
              <a:rPr lang="en" sz="1100">
                <a:solidFill>
                  <a:schemeClr val="dk1"/>
                </a:solidFill>
              </a:rPr>
              <a:t> Temperature, precipitation, snow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Collision Data:</a:t>
            </a:r>
            <a:r>
              <a:rPr lang="en" sz="1100">
                <a:solidFill>
                  <a:schemeClr val="dk1"/>
                </a:solidFill>
              </a:rPr>
              <a:t> Hourly incident counts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Dataset Size</a:t>
            </a:r>
            <a:endParaRPr b="1"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~1 year of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105+ traffic sensors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100+ individual Excel files merged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Sources</a:t>
            </a:r>
            <a:endParaRPr b="1"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Washington State DOT (WSDOT)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NOAA Climate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Seattle Open Data Portal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23490"/>
            <a:ext cx="4267199" cy="2037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680164"/>
            <a:ext cx="4267202" cy="106228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575450" y="2346953"/>
            <a:ext cx="4260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Weather Data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575450" y="-25941"/>
            <a:ext cx="4260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Traffic Volume</a:t>
            </a:r>
            <a:r>
              <a:rPr lang="en" sz="1200">
                <a:solidFill>
                  <a:schemeClr val="dk1"/>
                </a:solidFill>
              </a:rPr>
              <a:t> Data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4088448"/>
            <a:ext cx="4267201" cy="102942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4575450" y="3751070"/>
            <a:ext cx="4260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Collision</a:t>
            </a:r>
            <a:r>
              <a:rPr lang="en" sz="1200">
                <a:solidFill>
                  <a:schemeClr val="dk1"/>
                </a:solidFill>
              </a:rPr>
              <a:t> Data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377848" y="-69142"/>
            <a:ext cx="409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🚗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611573" y="-60513"/>
            <a:ext cx="409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🚗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856737" y="2316257"/>
            <a:ext cx="366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☀️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170422" y="2338874"/>
            <a:ext cx="366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🌧️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7109944" y="3732605"/>
            <a:ext cx="366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💥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826480" y="3725245"/>
            <a:ext cx="409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🚗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Data Collection &amp; Quality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How Data Were Collected</a:t>
            </a:r>
            <a:endParaRPr b="1"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WSDOT roadway sensors record volume every hour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NOAA stations collect weather measurements daily/hourly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SDOT logs collision reports with timestamps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Data Quality Considerations</a:t>
            </a:r>
            <a:endParaRPr b="1" sz="14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Missing values across multiple sensors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Occasional malformed timestamps (e.g., “24:00”)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personal information collected → privacy preserved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human subjects → informed consent not required</a:t>
            </a:r>
            <a:endParaRPr/>
          </a:p>
        </p:txBody>
      </p:sp>
      <p:pic>
        <p:nvPicPr>
          <p:cNvPr descr="Data Collection &amp; Quality&#10;"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325" y="661263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Data Processing Pipeline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435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Steps We Performed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Standardized column formats across 100+ Excel sheets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Identified valid DATE/TIME/VOLUME columns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Fixed invalid “24:00” timestamps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Interpolated missing volume values (linear interpolation)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Merged weather + collision datasets on timestamp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Constructed final unified hourly dataset</a:t>
            </a:r>
            <a:endParaRPr sz="190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100" y="1327513"/>
            <a:ext cx="4355400" cy="30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Exploratory Data Insights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344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Daily Traffic Cycle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Clear morning and evening peaks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 volume overnight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Weekly Pattern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Higher volumes on weekdays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Lower traffic on weekends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Weather Relationships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 correlation with precipitation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Snow events show sharper drops in volume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Collision Patterns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Collisions rare; limited predictive value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350" y="0"/>
            <a:ext cx="3073960" cy="257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350" y="2571750"/>
            <a:ext cx="3042863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Analytical Approach Overview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Type of Problem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Supervised Machine Learning • </a:t>
            </a:r>
            <a:r>
              <a:rPr b="1" lang="en" sz="1100">
                <a:solidFill>
                  <a:schemeClr val="dk1"/>
                </a:solidFill>
              </a:rPr>
              <a:t>Regression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Target Variable (y)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Target_Volume_1hr</a:t>
            </a:r>
            <a:r>
              <a:rPr lang="en" sz="1100">
                <a:solidFill>
                  <a:schemeClr val="dk1"/>
                </a:solidFill>
              </a:rPr>
              <a:t> = traffic volume at time t+1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Feature Set (X) Includes: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Lag volume (Volume at t−1)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Hour of day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Day of week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Temperature (TAVG), precipitation (PRCP), snow (SNOW)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Number of collision per hour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Baseline Model: Lagged Linear Regression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412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Model Form Example: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y(t+1) = β₀ + β₁·Volume(t−1) + β₂·Hour + β₃·DayOfWeek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Purpose of Baseline</a:t>
            </a:r>
            <a:endParaRPr b="1" sz="14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Establish minimum acceptable performance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Assess predictability from volume alone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90"/>
              <a:buChar char="●"/>
            </a:pPr>
            <a:r>
              <a:rPr lang="en" sz="1100">
                <a:solidFill>
                  <a:schemeClr val="dk1"/>
                </a:solidFill>
              </a:rPr>
              <a:t>This baseline uses the full feature set (all 7 features), not just lag volume.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Performance Summary</a:t>
            </a:r>
            <a:endParaRPr b="1" sz="14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RMSE = 985.65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MAE = 752.42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050" y="2499638"/>
            <a:ext cx="4628249" cy="16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XGBoost Model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4260300" cy="21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XGBoost?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Handles nonlinear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Performs well with noisy real-world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Automatically learns complex relationships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Model Inputs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Full engineered feature set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538" y="3258175"/>
            <a:ext cx="5820925" cy="17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4572000" y="1152475"/>
            <a:ext cx="43818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Hyperparameters Tuned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n_estimators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max_depth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learning_rate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subsample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colsample_bytree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Final Tuning XGBoost Results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979625"/>
            <a:ext cx="3897300" cy="19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Performance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RMSE: ~591 vehicles/hour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MAE: ~399 vehicles/hour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Interpretation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Captures daily patterns effectively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Struggles during sudden events or spikes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Slight “prediction shift” due to using lagged features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925" y="1017725"/>
            <a:ext cx="4016371" cy="39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851" y="2973125"/>
            <a:ext cx="3794999" cy="21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Prophet Forecasting Model</a:t>
            </a:r>
            <a:endParaRPr b="1" sz="2300"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017725"/>
            <a:ext cx="4260300" cy="41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 of Testing Prophet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Prophet is a time-series forecasting model designed for seasonality and trend decomposition.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We tested it as an alternative to machine learning models to see whether its structure fits hourly traffic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Features Used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y (target volume)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ds (timestamp)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Regressors added: TAVG_Calc, PRCP, SNOW, Collision_Count_Hr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Performance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RMSE:</a:t>
            </a:r>
            <a:r>
              <a:rPr lang="en" sz="1100">
                <a:solidFill>
                  <a:schemeClr val="dk1"/>
                </a:solidFill>
              </a:rPr>
              <a:t> 1903.17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MAE:</a:t>
            </a:r>
            <a:r>
              <a:rPr lang="en" sz="1100">
                <a:solidFill>
                  <a:schemeClr val="dk1"/>
                </a:solidFill>
              </a:rPr>
              <a:t> 1722.15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Interpretation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Prophet struggled with short-term hourly forecasts.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Seasonal patterns exist, but strong hour-to-hour variation made Prophet underperform.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Results confirm that traffic volume behaves more like a nonlinear ML problem than a smooth seasonal time-series problem.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 1-hour-ahead prediction window and availability of lag features favor tree-based models like XGBoost over decomposition-based forecasters like Prophet.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Model Performance Comparison</a:t>
            </a:r>
            <a:endParaRPr b="1" sz="2300"/>
          </a:p>
        </p:txBody>
      </p:sp>
      <p:graphicFrame>
        <p:nvGraphicFramePr>
          <p:cNvPr id="145" name="Google Shape;145;p2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{C2392C85-4170-4FF2-9D85-E52799F35AC2}</a:tableStyleId>
              </a:tblPr>
              <a:tblGrid>
                <a:gridCol w="2360025"/>
                <a:gridCol w="895650"/>
                <a:gridCol w="836525"/>
                <a:gridCol w="314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RMSE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Lagged Linear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985.65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752.42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 baseline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 (Untuned)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412.98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Handle nonlinearity, weather 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 (Tuned)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549.17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368.66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model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Prophet Forecasting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1903.17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1722.15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Struggles with volatile hourly data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Conclusion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4260300" cy="3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Final Answer to the Research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Yes — machine learning models, especially XGBoost, can reasonably forecast next-hour traffic volume on the I-5 corridor using historical volume, time-of-day features, and weather.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Takeaways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Volume is highly time-dependent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Lag features are extremely predictive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Weather adds slight value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Collision impact minimal in short-term forecasting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572000" y="1099575"/>
            <a:ext cx="4260300" cy="3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Limitation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Noise in raw sensor volume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Long gaps or missing sensors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Weather and collision data coarse or sparse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Harder to predict sudden congestion changes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Future Work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LSTM or attention-based deep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Multi-step forecasting (2–3 hours ahead)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Real-time incident integration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Additional explanatory variables (events, holidays)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References</a:t>
            </a:r>
            <a:endParaRPr b="1" sz="2300"/>
          </a:p>
        </p:txBody>
      </p:sp>
      <p:graphicFrame>
        <p:nvGraphicFramePr>
          <p:cNvPr id="158" name="Google Shape;158;p26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{C2392C85-4170-4FF2-9D85-E52799F35AC2}</a:tableStyleId>
              </a:tblPr>
              <a:tblGrid>
                <a:gridCol w="4260300"/>
                <a:gridCol w="4260300"/>
              </a:tblGrid>
              <a:tr h="396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WSDOT – Washington State Department of Transportation.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Traffic Sensor Data (Volume &amp; Flow). Retrieved from: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https://wsdot.wa.gov/travel/real-time-traffic-data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(Used as the primary traffic volume dataset across 100+ sensors.)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WSDOT (2023).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i="1" lang="en" sz="1100">
                          <a:solidFill>
                            <a:schemeClr val="dk1"/>
                          </a:solidFill>
                        </a:rPr>
                        <a:t>Congestion Prediction Research &amp; Constraints.</a:t>
                      </a:r>
                      <a:endParaRPr i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Used for understanding roadway prediction limitations and the importance of short-term forecasting.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NOAA – National Oceanic and Atmospheric Administration.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Climate Data (Daily &amp; Hourly Weather Records). Retrieved from: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https://www.ncei.noaa.gov/cdo-web/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(Temperature, precipitation, and snow variables used as weather regressors.)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Seattle Open Data Portal.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Traffic Collision Dataset. Retrieved from: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https://data.seattle.gov/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(Used to generate Collision_Count_Hr as an exogenous feature.)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 and A Written On A Keyboard Button (Do Getty Images cung cấp)"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38" y="63675"/>
            <a:ext cx="77171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